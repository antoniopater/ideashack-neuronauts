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Body Grotesque Bold" charset="1" panose="02000503040000020004"/>
      <p:regular r:id="rId18"/>
    </p:embeddedFont>
    <p:embeddedFont>
      <p:font typeface="Body Grotesque" charset="1" panose="02000503040000020004"/>
      <p:regular r:id="rId19"/>
    </p:embeddedFont>
    <p:embeddedFont>
      <p:font typeface="IBM Plex Serif" charset="1" panose="02060503050406000203"/>
      <p:regular r:id="rId20"/>
    </p:embeddedFont>
    <p:embeddedFont>
      <p:font typeface="IBM Plex Serif Bold" charset="1" panose="02060803050406000203"/>
      <p:regular r:id="rId21"/>
    </p:embeddedFont>
    <p:embeddedFont>
      <p:font typeface="IBM Plex Serif Italics" charset="1" panose="02060503050406000203"/>
      <p:regular r:id="rId22"/>
    </p:embeddedFont>
    <p:embeddedFont>
      <p:font typeface="Body Grotesque Bold Italics" charset="1" panose="02000503040000020004"/>
      <p:regular r:id="rId23"/>
    </p:embeddedFont>
    <p:embeddedFont>
      <p:font typeface="IBM Plex Serif Bold Italics" charset="1" panose="02060803050406000203"/>
      <p:regular r:id="rId24"/>
    </p:embeddedFont>
    <p:embeddedFont>
      <p:font typeface="Body Grotesque Italics" charset="1" panose="020005030400000200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drive.google.com/file/d/1TOsyetOR9xZ2U4ZAJiMniUTCW4wPcUy7/view" TargetMode="External" Type="http://schemas.openxmlformats.org/officeDocument/2006/relationships/hyperlink"/><Relationship Id="rId4" Target="https://github.com/antoniopater/IDEASHACK-NeuroNauts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0890" y="8874350"/>
            <a:ext cx="16726220" cy="767901"/>
            <a:chOff x="0" y="0"/>
            <a:chExt cx="4405260" cy="2022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5260" cy="202245"/>
            </a:xfrm>
            <a:custGeom>
              <a:avLst/>
              <a:gdLst/>
              <a:ahLst/>
              <a:cxnLst/>
              <a:rect r="r" b="b" t="t" l="l"/>
              <a:pathLst>
                <a:path h="202245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776554" y="2865068"/>
            <a:ext cx="12734892" cy="266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0"/>
              </a:lnSpc>
            </a:pPr>
            <a:r>
              <a:rPr lang="en-US" b="true" sz="20000">
                <a:solidFill>
                  <a:srgbClr val="FFFFFF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Nexdoc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06186" y="9069705"/>
            <a:ext cx="316736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Team NeuroNauts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4450" y="9069705"/>
            <a:ext cx="295689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2026 May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0890" y="644750"/>
            <a:ext cx="16726220" cy="767901"/>
            <a:chOff x="0" y="0"/>
            <a:chExt cx="4405260" cy="2022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05260" cy="202245"/>
            </a:xfrm>
            <a:custGeom>
              <a:avLst/>
              <a:gdLst/>
              <a:ahLst/>
              <a:cxnLst/>
              <a:rect r="r" b="b" t="t" l="l"/>
              <a:pathLst>
                <a:path h="202245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927990" y="811530"/>
            <a:ext cx="843202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96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R&amp;D BRIDGE FOR PHD RESEARCHERS AND INDUSTRY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30159" y="5351093"/>
            <a:ext cx="13227683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Make science–business fit visible, searchable, and explainable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94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0890" y="8874350"/>
            <a:ext cx="16726220" cy="767901"/>
            <a:chOff x="0" y="0"/>
            <a:chExt cx="4405260" cy="2022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5260" cy="202245"/>
            </a:xfrm>
            <a:custGeom>
              <a:avLst/>
              <a:gdLst/>
              <a:ahLst/>
              <a:cxnLst/>
              <a:rect r="r" b="b" t="t" l="l"/>
              <a:pathLst>
                <a:path h="202245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806186" y="9069705"/>
            <a:ext cx="316736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10599" y="3305687"/>
            <a:ext cx="13084195" cy="2814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7"/>
              </a:lnSpc>
            </a:pPr>
            <a:r>
              <a:rPr lang="en-US" sz="3197" spc="63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Science and industry rarely meet on equal footing. Both sides struggle to know who is serious and who can actually deliver.</a:t>
            </a:r>
          </a:p>
          <a:p>
            <a:pPr algn="l">
              <a:lnSpc>
                <a:spcPts val="3197"/>
              </a:lnSpc>
            </a:pPr>
          </a:p>
          <a:p>
            <a:pPr algn="l">
              <a:lnSpc>
                <a:spcPts val="3197"/>
              </a:lnSpc>
            </a:pPr>
            <a:r>
              <a:rPr lang="en-US" sz="3197" spc="63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CVs and lab websites were not built for that question. Companies speak in outcomes; researchers speak in methods. The same sentence rarely means the same thing.</a:t>
            </a:r>
          </a:p>
          <a:p>
            <a:pPr algn="l">
              <a:lnSpc>
                <a:spcPts val="319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87474" y="1328144"/>
            <a:ext cx="14730445" cy="99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b="true" sz="8799">
                <a:solidFill>
                  <a:srgbClr val="FFFFFF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The 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4450" y="9069705"/>
            <a:ext cx="2956891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2026 May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687474" y="6844665"/>
            <a:ext cx="14730445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800">
                <a:solidFill>
                  <a:srgbClr val="FFFFFF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Nexdoc</a:t>
            </a:r>
            <a:r>
              <a:rPr lang="en-US" sz="4800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fixes that with a shared brief, real profile evidence, and clear “</a:t>
            </a:r>
            <a:r>
              <a:rPr lang="en-US" sz="4800" i="true" u="sng">
                <a:solidFill>
                  <a:srgbClr val="FFFFFF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why this match.</a:t>
            </a:r>
            <a:r>
              <a:rPr lang="en-US" sz="4800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”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0890" y="644948"/>
            <a:ext cx="16726220" cy="1965414"/>
            <a:chOff x="0" y="0"/>
            <a:chExt cx="4405260" cy="517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05260" cy="517640"/>
            </a:xfrm>
            <a:custGeom>
              <a:avLst/>
              <a:gdLst/>
              <a:ahLst/>
              <a:cxnLst/>
              <a:rect r="r" b="b" t="t" l="l"/>
              <a:pathLst>
                <a:path h="517640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471354"/>
                  </a:lnTo>
                  <a:cubicBezTo>
                    <a:pt x="4405260" y="496917"/>
                    <a:pt x="4384537" y="517640"/>
                    <a:pt x="4358974" y="517640"/>
                  </a:cubicBezTo>
                  <a:lnTo>
                    <a:pt x="46286" y="517640"/>
                  </a:lnTo>
                  <a:cubicBezTo>
                    <a:pt x="20723" y="517640"/>
                    <a:pt x="0" y="496917"/>
                    <a:pt x="0" y="471354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405260" cy="555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94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0890" y="8874350"/>
            <a:ext cx="16726220" cy="767901"/>
            <a:chOff x="0" y="0"/>
            <a:chExt cx="4405260" cy="2022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5260" cy="202245"/>
            </a:xfrm>
            <a:custGeom>
              <a:avLst/>
              <a:gdLst/>
              <a:ahLst/>
              <a:cxnLst/>
              <a:rect r="r" b="b" t="t" l="l"/>
              <a:pathLst>
                <a:path h="202245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806186" y="9069705"/>
            <a:ext cx="316736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80890" y="644750"/>
            <a:ext cx="16726220" cy="1965414"/>
            <a:chOff x="0" y="0"/>
            <a:chExt cx="4405260" cy="517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05260" cy="517640"/>
            </a:xfrm>
            <a:custGeom>
              <a:avLst/>
              <a:gdLst/>
              <a:ahLst/>
              <a:cxnLst/>
              <a:rect r="r" b="b" t="t" l="l"/>
              <a:pathLst>
                <a:path h="517640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471354"/>
                  </a:lnTo>
                  <a:cubicBezTo>
                    <a:pt x="4405260" y="496917"/>
                    <a:pt x="4384537" y="517640"/>
                    <a:pt x="4358974" y="517640"/>
                  </a:cubicBezTo>
                  <a:lnTo>
                    <a:pt x="46286" y="517640"/>
                  </a:lnTo>
                  <a:cubicBezTo>
                    <a:pt x="20723" y="517640"/>
                    <a:pt x="0" y="496917"/>
                    <a:pt x="0" y="471354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405260" cy="555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87474" y="1318619"/>
            <a:ext cx="14672556" cy="92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0"/>
              </a:lnSpc>
            </a:pPr>
            <a:r>
              <a:rPr lang="en-US" b="true" sz="8200">
                <a:solidFill>
                  <a:srgbClr val="FFFFFF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One platform — two journey</a:t>
            </a:r>
            <a:r>
              <a:rPr lang="en-US" b="true" sz="8200">
                <a:solidFill>
                  <a:srgbClr val="FFFFFF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03714" y="5413989"/>
            <a:ext cx="5875628" cy="68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319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Say what hurts in plain language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03714" y="3404847"/>
            <a:ext cx="6107876" cy="1094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i="true">
                <a:solidFill>
                  <a:srgbClr val="FFFFFF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Companies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35914" y="3404847"/>
            <a:ext cx="6107876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i="true">
                <a:solidFill>
                  <a:srgbClr val="FFFFFF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Researchers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4450" y="9069705"/>
            <a:ext cx="295689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2026 May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03714" y="6383633"/>
            <a:ext cx="5875628" cy="362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319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Get back a structured R&amp;D brief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03714" y="7351373"/>
            <a:ext cx="5875628" cy="362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319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Publish and run a real pipeline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35914" y="5413989"/>
            <a:ext cx="5875628" cy="68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319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Show skills, projects, and time honestly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35914" y="6383633"/>
            <a:ext cx="5875628" cy="362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319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See briefs ranked for them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35914" y="7351373"/>
            <a:ext cx="5875628" cy="68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319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Apply with a match story, not a cold email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94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0890" y="8874350"/>
            <a:ext cx="16726220" cy="767901"/>
            <a:chOff x="0" y="0"/>
            <a:chExt cx="4405260" cy="2022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5260" cy="202245"/>
            </a:xfrm>
            <a:custGeom>
              <a:avLst/>
              <a:gdLst/>
              <a:ahLst/>
              <a:cxnLst/>
              <a:rect r="r" b="b" t="t" l="l"/>
              <a:pathLst>
                <a:path h="202245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806186" y="9069705"/>
            <a:ext cx="316736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80890" y="644750"/>
            <a:ext cx="16726220" cy="1965414"/>
            <a:chOff x="0" y="0"/>
            <a:chExt cx="4405260" cy="517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05260" cy="517640"/>
            </a:xfrm>
            <a:custGeom>
              <a:avLst/>
              <a:gdLst/>
              <a:ahLst/>
              <a:cxnLst/>
              <a:rect r="r" b="b" t="t" l="l"/>
              <a:pathLst>
                <a:path h="517640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471354"/>
                  </a:lnTo>
                  <a:cubicBezTo>
                    <a:pt x="4405260" y="496917"/>
                    <a:pt x="4384537" y="517640"/>
                    <a:pt x="4358974" y="517640"/>
                  </a:cubicBezTo>
                  <a:lnTo>
                    <a:pt x="46286" y="517640"/>
                  </a:lnTo>
                  <a:cubicBezTo>
                    <a:pt x="20723" y="517640"/>
                    <a:pt x="0" y="496917"/>
                    <a:pt x="0" y="471354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405260" cy="555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87474" y="1318619"/>
            <a:ext cx="14672556" cy="92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0"/>
              </a:lnSpc>
            </a:pPr>
            <a:r>
              <a:rPr lang="en-US" b="true" sz="8200">
                <a:solidFill>
                  <a:srgbClr val="FFFFFF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Profiles are the evidence.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87474" y="3485230"/>
            <a:ext cx="15286076" cy="1094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i="true">
                <a:solidFill>
                  <a:srgbClr val="FFFFFF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Skills · Projects · Publications · Availability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4450" y="9069705"/>
            <a:ext cx="295689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2026 May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44255" y="5561047"/>
            <a:ext cx="11358993" cy="2426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479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Readiness reads as a score and a tier, backed by what the person actually did — so companies can skim for trust, not slogans.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94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0890" y="8874350"/>
            <a:ext cx="16726220" cy="767901"/>
            <a:chOff x="0" y="0"/>
            <a:chExt cx="4405260" cy="2022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5260" cy="202245"/>
            </a:xfrm>
            <a:custGeom>
              <a:avLst/>
              <a:gdLst/>
              <a:ahLst/>
              <a:cxnLst/>
              <a:rect r="r" b="b" t="t" l="l"/>
              <a:pathLst>
                <a:path h="202245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806186" y="9069705"/>
            <a:ext cx="316736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80890" y="644750"/>
            <a:ext cx="16726220" cy="2283675"/>
            <a:chOff x="0" y="0"/>
            <a:chExt cx="4405260" cy="6014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05260" cy="601462"/>
            </a:xfrm>
            <a:custGeom>
              <a:avLst/>
              <a:gdLst/>
              <a:ahLst/>
              <a:cxnLst/>
              <a:rect r="r" b="b" t="t" l="l"/>
              <a:pathLst>
                <a:path h="601462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555176"/>
                  </a:lnTo>
                  <a:cubicBezTo>
                    <a:pt x="4405260" y="580739"/>
                    <a:pt x="4384537" y="601462"/>
                    <a:pt x="4358974" y="601462"/>
                  </a:cubicBezTo>
                  <a:lnTo>
                    <a:pt x="46286" y="601462"/>
                  </a:lnTo>
                  <a:cubicBezTo>
                    <a:pt x="20723" y="601462"/>
                    <a:pt x="0" y="580739"/>
                    <a:pt x="0" y="555176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405260" cy="639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87474" y="1261469"/>
            <a:ext cx="14982909" cy="149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6999">
                <a:solidFill>
                  <a:srgbClr val="FFFFFF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From “someone somewhere” to a short list of plausibles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4450" y="9069705"/>
            <a:ext cx="295689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2026 May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91369" y="3795894"/>
            <a:ext cx="793411" cy="520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2949" indent="-431474" lvl="1">
              <a:lnSpc>
                <a:spcPts val="3996"/>
              </a:lnSpc>
              <a:buAutoNum type="arabicPeriod" startAt="1"/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549044" y="3795894"/>
            <a:ext cx="9121339" cy="520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6"/>
              </a:lnSpc>
            </a:pPr>
            <a:r>
              <a:rPr lang="en-US" sz="3996" spc="7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Filter by domain and what they can do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7474" y="4840392"/>
            <a:ext cx="793411" cy="520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2949" indent="-431474" lvl="1">
              <a:lnSpc>
                <a:spcPts val="3996"/>
              </a:lnSpc>
              <a:buAutoNum type="arabicPeriod" startAt="1"/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728694" y="4840392"/>
            <a:ext cx="14778416" cy="520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6"/>
              </a:lnSpc>
            </a:pPr>
            <a:r>
              <a:rPr lang="en-US" sz="3996" spc="7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See fit before the full read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77931" y="6227791"/>
            <a:ext cx="793411" cy="520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2949" indent="-431474" lvl="1">
              <a:lnSpc>
                <a:spcPts val="3996"/>
              </a:lnSpc>
              <a:buAutoNum type="arabicPeriod" startAt="1"/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4467436" y="6227791"/>
            <a:ext cx="12202947" cy="520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6"/>
              </a:lnSpc>
            </a:pPr>
            <a:r>
              <a:rPr lang="en-US" sz="3996" spc="7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Same rhythm for software, life science, engineering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87474" y="7523471"/>
            <a:ext cx="793411" cy="520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2949" indent="-431474" lvl="1">
              <a:lnSpc>
                <a:spcPts val="3996"/>
              </a:lnSpc>
              <a:buAutoNum type="arabicPeriod" startAt="1"/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604789" y="7513946"/>
            <a:ext cx="15026226" cy="53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6"/>
              </a:lnSpc>
            </a:pPr>
            <a:r>
              <a:rPr lang="en-US" sz="3996" spc="7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Less browsing theater — more “</a:t>
            </a:r>
            <a:r>
              <a:rPr lang="en-US" sz="3996" i="true" spc="79">
                <a:solidFill>
                  <a:srgbClr val="FFFFFF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who can ship this scope?</a:t>
            </a:r>
            <a:r>
              <a:rPr lang="en-US" sz="3996" spc="7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”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94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0890" y="8874350"/>
            <a:ext cx="16726220" cy="767901"/>
            <a:chOff x="0" y="0"/>
            <a:chExt cx="4405260" cy="2022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5260" cy="202245"/>
            </a:xfrm>
            <a:custGeom>
              <a:avLst/>
              <a:gdLst/>
              <a:ahLst/>
              <a:cxnLst/>
              <a:rect r="r" b="b" t="t" l="l"/>
              <a:pathLst>
                <a:path h="202245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806186" y="9069705"/>
            <a:ext cx="316736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7474" y="1328144"/>
            <a:ext cx="14193771" cy="99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b="true" sz="8799">
                <a:solidFill>
                  <a:srgbClr val="FFFFFF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Translation, not chat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87474" y="4322444"/>
            <a:ext cx="15182051" cy="82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79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goal, required skills, scope, deliverables, first milestone.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7474" y="3399214"/>
            <a:ext cx="4519436" cy="1094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i="true" b="true">
                <a:solidFill>
                  <a:srgbClr val="FFFFFF"/>
                </a:solidFill>
                <a:latin typeface="Body Grotesque Bold Italics"/>
                <a:ea typeface="Body Grotesque Bold Italics"/>
                <a:cs typeface="Body Grotesque Bold Italics"/>
                <a:sym typeface="Body Grotesque Bold Italics"/>
              </a:rPr>
              <a:t>One</a:t>
            </a:r>
            <a:r>
              <a:rPr lang="en-US" sz="639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 brief –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4450" y="9069705"/>
            <a:ext cx="295689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2026 May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0890" y="644750"/>
            <a:ext cx="16726220" cy="1965414"/>
            <a:chOff x="0" y="0"/>
            <a:chExt cx="4405260" cy="517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05260" cy="517640"/>
            </a:xfrm>
            <a:custGeom>
              <a:avLst/>
              <a:gdLst/>
              <a:ahLst/>
              <a:cxnLst/>
              <a:rect r="r" b="b" t="t" l="l"/>
              <a:pathLst>
                <a:path h="517640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471354"/>
                  </a:lnTo>
                  <a:cubicBezTo>
                    <a:pt x="4405260" y="496917"/>
                    <a:pt x="4384537" y="517640"/>
                    <a:pt x="4358974" y="517640"/>
                  </a:cubicBezTo>
                  <a:lnTo>
                    <a:pt x="46286" y="517640"/>
                  </a:lnTo>
                  <a:cubicBezTo>
                    <a:pt x="20723" y="517640"/>
                    <a:pt x="0" y="496917"/>
                    <a:pt x="0" y="471354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405260" cy="555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87474" y="5768052"/>
            <a:ext cx="15182051" cy="84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3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AI’s job here is </a:t>
            </a:r>
            <a:r>
              <a:rPr lang="en-US" sz="6399" i="true" b="true">
                <a:solidFill>
                  <a:srgbClr val="FFFFFF"/>
                </a:solidFill>
                <a:latin typeface="IBM Plex Serif Bold Italics"/>
                <a:ea typeface="IBM Plex Serif Bold Italics"/>
                <a:cs typeface="IBM Plex Serif Bold Italics"/>
                <a:sym typeface="IBM Plex Serif Bold Italics"/>
              </a:rPr>
              <a:t>translation</a:t>
            </a:r>
            <a:r>
              <a:rPr lang="en-US" sz="63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–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7474" y="6711662"/>
            <a:ext cx="15182051" cy="12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messy intent into something a PhD can execute </a:t>
            </a:r>
            <a:r>
              <a:rPr lang="en-US" sz="4800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and a PM can defend.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94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0890" y="8874350"/>
            <a:ext cx="16726220" cy="767901"/>
            <a:chOff x="0" y="0"/>
            <a:chExt cx="4405260" cy="2022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5260" cy="202245"/>
            </a:xfrm>
            <a:custGeom>
              <a:avLst/>
              <a:gdLst/>
              <a:ahLst/>
              <a:cxnLst/>
              <a:rect r="r" b="b" t="t" l="l"/>
              <a:pathLst>
                <a:path h="202245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806186" y="9069705"/>
            <a:ext cx="316736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7474" y="1328144"/>
            <a:ext cx="13567517" cy="99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b="true" sz="8799">
                <a:solidFill>
                  <a:srgbClr val="FFFFFF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Trust needs answers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05760" y="4053902"/>
            <a:ext cx="687648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i="true">
                <a:solidFill>
                  <a:srgbClr val="FFFFFF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“Why is this person on the list?”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38777" y="3002977"/>
            <a:ext cx="15210446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If the product cannot say that out loud, it is not solving reliability.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4450" y="9069705"/>
            <a:ext cx="295689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2026 May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0890" y="644750"/>
            <a:ext cx="16726220" cy="1965414"/>
            <a:chOff x="0" y="0"/>
            <a:chExt cx="4405260" cy="517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05260" cy="517640"/>
            </a:xfrm>
            <a:custGeom>
              <a:avLst/>
              <a:gdLst/>
              <a:ahLst/>
              <a:cxnLst/>
              <a:rect r="r" b="b" t="t" l="l"/>
              <a:pathLst>
                <a:path h="517640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471354"/>
                  </a:lnTo>
                  <a:cubicBezTo>
                    <a:pt x="4405260" y="496917"/>
                    <a:pt x="4384537" y="517640"/>
                    <a:pt x="4358974" y="517640"/>
                  </a:cubicBezTo>
                  <a:lnTo>
                    <a:pt x="46286" y="517640"/>
                  </a:lnTo>
                  <a:cubicBezTo>
                    <a:pt x="20723" y="517640"/>
                    <a:pt x="0" y="496917"/>
                    <a:pt x="0" y="471354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405260" cy="555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530250" y="4836340"/>
            <a:ext cx="922750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i="true">
                <a:solidFill>
                  <a:srgbClr val="FFFFFF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“What should we verify before we say yes?”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7302" y="6658790"/>
            <a:ext cx="14933397" cy="166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799" b="true">
                <a:solidFill>
                  <a:srgbClr val="FFFFFF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Nexdoc</a:t>
            </a:r>
            <a:r>
              <a:rPr lang="en-US" sz="479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 answers in scores, strengths, and risks — </a:t>
            </a:r>
          </a:p>
          <a:p>
            <a:pPr algn="ctr">
              <a:lnSpc>
                <a:spcPts val="6719"/>
              </a:lnSpc>
            </a:pPr>
            <a:r>
              <a:rPr lang="en-US" sz="4799" u="sng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not a black-box percentile.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94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0890" y="8874350"/>
            <a:ext cx="16726220" cy="767901"/>
            <a:chOff x="0" y="0"/>
            <a:chExt cx="4405260" cy="2022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5260" cy="202245"/>
            </a:xfrm>
            <a:custGeom>
              <a:avLst/>
              <a:gdLst/>
              <a:ahLst/>
              <a:cxnLst/>
              <a:rect r="r" b="b" t="t" l="l"/>
              <a:pathLst>
                <a:path h="202245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806186" y="9069705"/>
            <a:ext cx="316736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7474" y="1328144"/>
            <a:ext cx="15425885" cy="99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8799" b="true">
                <a:solidFill>
                  <a:srgbClr val="FFFFFF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Draft and discover together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68087" y="3639185"/>
            <a:ext cx="13951825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While the company still types the draft brief the </a:t>
            </a:r>
            <a:r>
              <a:rPr lang="en-US" sz="6399" b="true">
                <a:solidFill>
                  <a:srgbClr val="FFFFFF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candidate list moves.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47199" y="6519067"/>
            <a:ext cx="10593602" cy="131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Refine the problem and the pool together — before anything is public.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4450" y="9069705"/>
            <a:ext cx="295689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2026 May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0890" y="644750"/>
            <a:ext cx="16726220" cy="1965414"/>
            <a:chOff x="0" y="0"/>
            <a:chExt cx="4405260" cy="517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05260" cy="517640"/>
            </a:xfrm>
            <a:custGeom>
              <a:avLst/>
              <a:gdLst/>
              <a:ahLst/>
              <a:cxnLst/>
              <a:rect r="r" b="b" t="t" l="l"/>
              <a:pathLst>
                <a:path h="517640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471354"/>
                  </a:lnTo>
                  <a:cubicBezTo>
                    <a:pt x="4405260" y="496917"/>
                    <a:pt x="4384537" y="517640"/>
                    <a:pt x="4358974" y="517640"/>
                  </a:cubicBezTo>
                  <a:lnTo>
                    <a:pt x="46286" y="517640"/>
                  </a:lnTo>
                  <a:cubicBezTo>
                    <a:pt x="20723" y="517640"/>
                    <a:pt x="0" y="496917"/>
                    <a:pt x="0" y="471354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405260" cy="555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94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0890" y="8874350"/>
            <a:ext cx="16726220" cy="767901"/>
            <a:chOff x="0" y="0"/>
            <a:chExt cx="4405260" cy="2022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5260" cy="202245"/>
            </a:xfrm>
            <a:custGeom>
              <a:avLst/>
              <a:gdLst/>
              <a:ahLst/>
              <a:cxnLst/>
              <a:rect r="r" b="b" t="t" l="l"/>
              <a:pathLst>
                <a:path h="202245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806186" y="9069705"/>
            <a:ext cx="316736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9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80890" y="644750"/>
            <a:ext cx="16726220" cy="1965414"/>
            <a:chOff x="0" y="0"/>
            <a:chExt cx="4405260" cy="517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05260" cy="517640"/>
            </a:xfrm>
            <a:custGeom>
              <a:avLst/>
              <a:gdLst/>
              <a:ahLst/>
              <a:cxnLst/>
              <a:rect r="r" b="b" t="t" l="l"/>
              <a:pathLst>
                <a:path h="517640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471354"/>
                  </a:lnTo>
                  <a:cubicBezTo>
                    <a:pt x="4405260" y="496917"/>
                    <a:pt x="4384537" y="517640"/>
                    <a:pt x="4358974" y="517640"/>
                  </a:cubicBezTo>
                  <a:lnTo>
                    <a:pt x="46286" y="517640"/>
                  </a:lnTo>
                  <a:cubicBezTo>
                    <a:pt x="20723" y="517640"/>
                    <a:pt x="0" y="496917"/>
                    <a:pt x="0" y="471354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405260" cy="555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326270" y="1362075"/>
            <a:ext cx="9635460" cy="99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b="true" sz="8799">
                <a:solidFill>
                  <a:srgbClr val="FFFFFF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What is a “brief”?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4450" y="9069705"/>
            <a:ext cx="295689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2026 May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35537" y="3163571"/>
            <a:ext cx="11854330" cy="1979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 i="true">
                <a:solidFill>
                  <a:srgbClr val="FFFFFF"/>
                </a:solidFill>
                <a:latin typeface="IBM Plex Serif Bold Italics"/>
                <a:ea typeface="IBM Plex Serif Bold Italics"/>
                <a:cs typeface="IBM Plex Serif Bold Italics"/>
                <a:sym typeface="IBM Plex Serif Bold Italics"/>
              </a:rPr>
              <a:t>Brief</a:t>
            </a:r>
            <a:r>
              <a:rPr lang="en-US" sz="3800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(n.) — A posted unit of R&amp;D work: industry, time, money band, required skills. Something a researcher can apply to, not guess about.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01673" y="6540251"/>
            <a:ext cx="13722059" cy="1657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That turns “</a:t>
            </a:r>
            <a:r>
              <a:rPr lang="en-US" sz="6399" i="true">
                <a:solidFill>
                  <a:srgbClr val="FFFFFF"/>
                </a:solidFill>
                <a:latin typeface="Body Grotesque Italics"/>
                <a:ea typeface="Body Grotesque Italics"/>
                <a:cs typeface="Body Grotesque Italics"/>
                <a:sym typeface="Body Grotesque Italics"/>
              </a:rPr>
              <a:t>we need help</a:t>
            </a:r>
            <a:r>
              <a:rPr lang="en-US" sz="639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” into inventory the market can search.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94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0890" y="8874350"/>
            <a:ext cx="16726220" cy="767901"/>
            <a:chOff x="0" y="0"/>
            <a:chExt cx="4405260" cy="2022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5260" cy="202245"/>
            </a:xfrm>
            <a:custGeom>
              <a:avLst/>
              <a:gdLst/>
              <a:ahLst/>
              <a:cxnLst/>
              <a:rect r="r" b="b" t="t" l="l"/>
              <a:pathLst>
                <a:path h="202245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806186" y="9069705"/>
            <a:ext cx="316736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06610" y="3097725"/>
            <a:ext cx="14274779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This is about </a:t>
            </a:r>
            <a:r>
              <a:rPr lang="en-US" sz="3999" b="true">
                <a:solidFill>
                  <a:srgbClr val="FFFFFF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time to a serious first conversation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and </a:t>
            </a:r>
            <a:r>
              <a:rPr lang="en-US" sz="3999" b="true">
                <a:solidFill>
                  <a:srgbClr val="FFFFFF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less asymmetric information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. The same brief and the same signals face both ways.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4450" y="9069705"/>
            <a:ext cx="295689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2026 May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0890" y="644750"/>
            <a:ext cx="16726220" cy="1965414"/>
            <a:chOff x="0" y="0"/>
            <a:chExt cx="4405260" cy="517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05260" cy="517640"/>
            </a:xfrm>
            <a:custGeom>
              <a:avLst/>
              <a:gdLst/>
              <a:ahLst/>
              <a:cxnLst/>
              <a:rect r="r" b="b" t="t" l="l"/>
              <a:pathLst>
                <a:path h="517640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471354"/>
                  </a:lnTo>
                  <a:cubicBezTo>
                    <a:pt x="4405260" y="496917"/>
                    <a:pt x="4384537" y="517640"/>
                    <a:pt x="4358974" y="517640"/>
                  </a:cubicBezTo>
                  <a:lnTo>
                    <a:pt x="46286" y="517640"/>
                  </a:lnTo>
                  <a:cubicBezTo>
                    <a:pt x="20723" y="517640"/>
                    <a:pt x="0" y="496917"/>
                    <a:pt x="0" y="471354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405260" cy="555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326270" y="1294400"/>
            <a:ext cx="9635460" cy="99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b="true" sz="8799">
                <a:solidFill>
                  <a:srgbClr val="FFFFFF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 Why it matters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99476" y="5795531"/>
            <a:ext cx="15089049" cy="278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Academic depth connects to </a:t>
            </a:r>
            <a:r>
              <a:rPr lang="en-US" sz="3999" b="true">
                <a:solidFill>
                  <a:srgbClr val="FFFFFF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weeks-scale</a:t>
            </a:r>
            <a:r>
              <a:rPr lang="en-US" sz="399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 industry work — reviews, PoCs, scoped analyses — without every project pretending to be a three-year consortium.</a:t>
            </a:r>
          </a:p>
          <a:p>
            <a:pPr algn="l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94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0890" y="8874350"/>
            <a:ext cx="16726220" cy="767901"/>
            <a:chOff x="0" y="0"/>
            <a:chExt cx="4405260" cy="2022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5260" cy="202245"/>
            </a:xfrm>
            <a:custGeom>
              <a:avLst/>
              <a:gdLst/>
              <a:ahLst/>
              <a:cxnLst/>
              <a:rect r="r" b="b" t="t" l="l"/>
              <a:pathLst>
                <a:path h="202245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806186" y="9069705"/>
            <a:ext cx="316736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49252" y="3120750"/>
            <a:ext cx="12010048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Structured AI outpu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t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s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y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o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u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c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n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ke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e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p: b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ri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e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fs 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n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d 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ration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les 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liv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e in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t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he product — not in a lost chat.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4450" y="9069705"/>
            <a:ext cx="295689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2026 May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0890" y="644750"/>
            <a:ext cx="16726220" cy="1965414"/>
            <a:chOff x="0" y="0"/>
            <a:chExt cx="4405260" cy="517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05260" cy="517640"/>
            </a:xfrm>
            <a:custGeom>
              <a:avLst/>
              <a:gdLst/>
              <a:ahLst/>
              <a:cxnLst/>
              <a:rect r="r" b="b" t="t" l="l"/>
              <a:pathLst>
                <a:path h="517640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471354"/>
                  </a:lnTo>
                  <a:cubicBezTo>
                    <a:pt x="4405260" y="496917"/>
                    <a:pt x="4384537" y="517640"/>
                    <a:pt x="4358974" y="517640"/>
                  </a:cubicBezTo>
                  <a:lnTo>
                    <a:pt x="46286" y="517640"/>
                  </a:lnTo>
                  <a:cubicBezTo>
                    <a:pt x="20723" y="517640"/>
                    <a:pt x="0" y="496917"/>
                    <a:pt x="0" y="471354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405260" cy="555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326270" y="1294400"/>
            <a:ext cx="9635460" cy="99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b="true" sz="8799">
                <a:solidFill>
                  <a:srgbClr val="FFFFFF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Built to ship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70251" y="7483423"/>
            <a:ext cx="15089049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Two ful</a:t>
            </a:r>
            <a:r>
              <a:rPr lang="en-US" sz="399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l</a:t>
            </a:r>
            <a:r>
              <a:rPr lang="en-US" sz="399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 user flows – one shared object.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331911"/>
            <a:ext cx="9644670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Matching is layered: fas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t when 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y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o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u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b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rows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e, 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serious when</a:t>
            </a:r>
            <a:r>
              <a:rPr lang="en-US" sz="39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someone applies.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0890" y="8874350"/>
            <a:ext cx="16726220" cy="767901"/>
            <a:chOff x="0" y="0"/>
            <a:chExt cx="4405260" cy="2022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5260" cy="202245"/>
            </a:xfrm>
            <a:custGeom>
              <a:avLst/>
              <a:gdLst/>
              <a:ahLst/>
              <a:cxnLst/>
              <a:rect r="r" b="b" t="t" l="l"/>
              <a:pathLst>
                <a:path h="202245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654186" y="4693080"/>
            <a:ext cx="8979629" cy="84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b="true" sz="6399" u="sng">
                <a:solidFill>
                  <a:srgbClr val="FFFFFF"/>
                </a:solidFill>
                <a:latin typeface="IBM Plex Serif Bold"/>
                <a:ea typeface="IBM Plex Serif Bold"/>
                <a:cs typeface="IBM Plex Serif Bold"/>
                <a:sym typeface="IBM Plex Serif Bold"/>
                <a:hlinkClick r:id="rId3" tooltip="https://drive.google.com/file/d/1TOsyetOR9xZ2U4ZAJiMniUTCW4wPcUy7/view"/>
              </a:rPr>
              <a:t>Demo</a:t>
            </a:r>
            <a:r>
              <a:rPr lang="en-US" b="true" sz="6399">
                <a:solidFill>
                  <a:srgbClr val="FFFFFF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 &amp; </a:t>
            </a:r>
            <a:r>
              <a:rPr lang="en-US" b="true" sz="6399" u="sng">
                <a:solidFill>
                  <a:srgbClr val="FFFFFF"/>
                </a:solidFill>
                <a:latin typeface="IBM Plex Serif Bold"/>
                <a:ea typeface="IBM Plex Serif Bold"/>
                <a:cs typeface="IBM Plex Serif Bold"/>
                <a:sym typeface="IBM Plex Serif Bold"/>
                <a:hlinkClick r:id="rId4" tooltip="https://github.com/antoniopater/IDEASHACK-NeuroNauts"/>
              </a:rPr>
              <a:t>Code</a:t>
            </a:r>
            <a:r>
              <a:rPr lang="en-US" sz="6399">
                <a:solidFill>
                  <a:srgbClr val="FFFFFF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(click)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06186" y="9069705"/>
            <a:ext cx="316736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Team NeuroNauts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80890" y="644750"/>
            <a:ext cx="16726220" cy="767901"/>
            <a:chOff x="0" y="0"/>
            <a:chExt cx="4405260" cy="2022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05260" cy="202245"/>
            </a:xfrm>
            <a:custGeom>
              <a:avLst/>
              <a:gdLst/>
              <a:ahLst/>
              <a:cxnLst/>
              <a:rect r="r" b="b" t="t" l="l"/>
              <a:pathLst>
                <a:path h="202245" w="4405260">
                  <a:moveTo>
                    <a:pt x="46286" y="0"/>
                  </a:moveTo>
                  <a:lnTo>
                    <a:pt x="4358974" y="0"/>
                  </a:lnTo>
                  <a:cubicBezTo>
                    <a:pt x="4384537" y="0"/>
                    <a:pt x="4405260" y="20723"/>
                    <a:pt x="4405260" y="46286"/>
                  </a:cubicBezTo>
                  <a:lnTo>
                    <a:pt x="4405260" y="155959"/>
                  </a:lnTo>
                  <a:cubicBezTo>
                    <a:pt x="4405260" y="168235"/>
                    <a:pt x="4400383" y="180008"/>
                    <a:pt x="4391703" y="188689"/>
                  </a:cubicBezTo>
                  <a:cubicBezTo>
                    <a:pt x="4383022" y="197369"/>
                    <a:pt x="4371249" y="202245"/>
                    <a:pt x="4358974" y="202245"/>
                  </a:cubicBezTo>
                  <a:lnTo>
                    <a:pt x="46286" y="202245"/>
                  </a:lnTo>
                  <a:cubicBezTo>
                    <a:pt x="20723" y="202245"/>
                    <a:pt x="0" y="181522"/>
                    <a:pt x="0" y="155959"/>
                  </a:cubicBezTo>
                  <a:lnTo>
                    <a:pt x="0" y="46286"/>
                  </a:lnTo>
                  <a:cubicBezTo>
                    <a:pt x="0" y="20723"/>
                    <a:pt x="20723" y="0"/>
                    <a:pt x="4628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405260" cy="240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185632" y="840105"/>
            <a:ext cx="591673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 spc="96">
                <a:solidFill>
                  <a:srgbClr val="FFFFFF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NEXDOC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4450" y="9069705"/>
            <a:ext cx="295689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E94B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2026 May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87567" y="2531648"/>
            <a:ext cx="10712865" cy="2120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9"/>
              </a:lnSpc>
            </a:pPr>
            <a:r>
              <a:rPr lang="en-US" sz="15999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Thank you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85142" y="7748915"/>
            <a:ext cx="843202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96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KAROL BYSTREK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01192" y="7748915"/>
            <a:ext cx="843202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96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JAN BANASIK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86358" y="6982860"/>
            <a:ext cx="843202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96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ANTONI PATER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69622" y="6982860"/>
            <a:ext cx="843202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96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FILIP BACIAK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86848" y="6303440"/>
            <a:ext cx="411430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96">
                <a:solidFill>
                  <a:srgbClr val="FFFFFF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STANISŁAW PAŃSKOWSKI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DAHJFz68hsc</dc:identifier>
  <dcterms:modified xsi:type="dcterms:W3CDTF">2011-08-01T06:04:30Z</dcterms:modified>
  <cp:revision>1</cp:revision>
  <dc:title>Blue and White Modern Gradient Corporate Project Proposal Presentation</dc:title>
</cp:coreProperties>
</file>